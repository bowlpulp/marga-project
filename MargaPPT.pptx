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A528B9-0637-4E9A-B55C-DFE662EC5ABC}">
  <a:tblStyle styleId="{46A528B9-0637-4E9A-B55C-DFE662EC5AB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sz="1200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/>
        </p:nvSpPr>
        <p:spPr>
          <a:xfrm>
            <a:off x="0" y="840631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Comparative Evaluation of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MARGA Architectures for Real-Time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Misinformation Detection</a:t>
            </a:r>
            <a:endParaRPr b="1"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2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7585725" y="4378750"/>
            <a:ext cx="157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1739175" y="5624550"/>
            <a:ext cx="56739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2299275" y="3131500"/>
            <a:ext cx="4553700" cy="19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Kartik Arora - 2210990486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Saamya Singla - 2210990754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Sanya Kansal - 2210990793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Gifty Gupta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sz="3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52646" y="1009704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Misinformation?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Misinformation spreads faster on social media than accurate news — particularly harmful in health, politics, and emergencies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detection is critical; manual fact-checking cannot keep up with the volume of online content</a:t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Gap in Existing Methods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Content-based (text) models lack external knowledge and struggle with novel claims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Retrieval-based models introduce noise from irrelevant evidence passages</a:t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progressive Multi-Agent Retrieval-Augmented Graph Architecture (MARGA)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retrieval-augmented generation (RAG), multimodal encoding, and graph-based propagation modeling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 b="0" sz="3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Definition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task is to determine whether a news claim is real or fake using multiple sources of information, including the claim text, an optional image, social media spread patterns, and retrieved supporting evidence.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Challenges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 noise — retrieved passages can be irrelevant or misleading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graphs — many real-world social graphs lack structural detail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bias — training/test overlap can inflate benchmark metrics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misalignment — text and images are not always semantically related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235200" y="27215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Framework - MARGA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Four-Step Progressive Architecture</a:t>
            </a:r>
            <a:endParaRPr b="1" sz="20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model adds exactly one architectural component, enabling clean ablation analysis: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481350" y="2632626"/>
            <a:ext cx="15603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3"/>
              <a:buFont typeface="Arial"/>
              <a:buNone/>
            </a:pPr>
            <a:r>
              <a:t/>
            </a:r>
            <a:endParaRPr b="0" i="0" sz="8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279500" y="2632627"/>
            <a:ext cx="15603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3"/>
              <a:buFont typeface="Arial"/>
              <a:buNone/>
            </a:pPr>
            <a:r>
              <a:t/>
            </a:r>
            <a:endParaRPr b="0" i="0" sz="8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077675" y="2632627"/>
            <a:ext cx="15603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25" lIns="74300" spcFirstLastPara="1" rIns="74300" wrap="square" tIns="3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3"/>
              <a:buFont typeface="Arial"/>
              <a:buNone/>
            </a:pPr>
            <a:r>
              <a:t/>
            </a:r>
            <a:endParaRPr b="0" i="0" sz="8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224025" y="3011748"/>
            <a:ext cx="2091300" cy="260100"/>
          </a:xfrm>
          <a:prstGeom prst="rect">
            <a:avLst/>
          </a:prstGeom>
          <a:solidFill>
            <a:srgbClr val="CC0000"/>
          </a:solidFill>
          <a:ln cap="flat" cmpd="sng" w="129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224025" y="3011748"/>
            <a:ext cx="2091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1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224025" y="3271980"/>
            <a:ext cx="2091300" cy="2555700"/>
          </a:xfrm>
          <a:prstGeom prst="rect">
            <a:avLst/>
          </a:prstGeom>
          <a:solidFill>
            <a:srgbClr val="F5F5F5"/>
          </a:solidFill>
          <a:ln cap="flat" cmpd="sng" w="96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270495" y="3318450"/>
            <a:ext cx="1998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Text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Classifier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98377" y="3913265"/>
            <a:ext cx="19518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7"/>
              <a:buFont typeface="Arial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RoBERTa-large fine-tuned on claim text only. No external evidence or visual input.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473167" y="3011748"/>
            <a:ext cx="2091300" cy="260100"/>
          </a:xfrm>
          <a:prstGeom prst="rect">
            <a:avLst/>
          </a:prstGeom>
          <a:solidFill>
            <a:srgbClr val="CC0000"/>
          </a:solidFill>
          <a:ln cap="flat" cmpd="sng" w="129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473167" y="3011748"/>
            <a:ext cx="2091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2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473167" y="3271980"/>
            <a:ext cx="2091300" cy="2555700"/>
          </a:xfrm>
          <a:prstGeom prst="rect">
            <a:avLst/>
          </a:prstGeom>
          <a:solidFill>
            <a:srgbClr val="F5F5F5"/>
          </a:solidFill>
          <a:ln cap="flat" cmpd="sng" w="96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519637" y="3318450"/>
            <a:ext cx="1998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Multimodal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547519" y="3913265"/>
            <a:ext cx="19518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7"/>
              <a:buFont typeface="Arial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DPR retrieval (FAISS index, ~4.2M docs) + CLIP image encoding with cross-attention.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722309" y="3011748"/>
            <a:ext cx="2091300" cy="260100"/>
          </a:xfrm>
          <a:prstGeom prst="rect">
            <a:avLst/>
          </a:prstGeom>
          <a:solidFill>
            <a:srgbClr val="CC0000"/>
          </a:solidFill>
          <a:ln cap="flat" cmpd="sng" w="129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22309" y="3011748"/>
            <a:ext cx="2091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3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722309" y="3271980"/>
            <a:ext cx="2091300" cy="2555700"/>
          </a:xfrm>
          <a:prstGeom prst="rect">
            <a:avLst/>
          </a:prstGeom>
          <a:solidFill>
            <a:srgbClr val="F5F5F5"/>
          </a:solidFill>
          <a:ln cap="flat" cmpd="sng" w="96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768779" y="3318450"/>
            <a:ext cx="1998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Graph-RAG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796661" y="3913265"/>
            <a:ext cx="19518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7"/>
              <a:buFont typeface="Arial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GAT-based propagation graph (extends Bi-GCN with temporal edge weights).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971451" y="3011748"/>
            <a:ext cx="2091300" cy="260100"/>
          </a:xfrm>
          <a:prstGeom prst="rect">
            <a:avLst/>
          </a:prstGeom>
          <a:solidFill>
            <a:srgbClr val="CC0000"/>
          </a:solidFill>
          <a:ln cap="flat" cmpd="sng" w="129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971451" y="3011748"/>
            <a:ext cx="2091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8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4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971451" y="3271980"/>
            <a:ext cx="2091300" cy="2555700"/>
          </a:xfrm>
          <a:prstGeom prst="rect">
            <a:avLst/>
          </a:prstGeom>
          <a:solidFill>
            <a:srgbClr val="F5F5F5"/>
          </a:solidFill>
          <a:ln cap="flat" cmpd="sng" w="96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017921" y="3318450"/>
            <a:ext cx="19980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450" lIns="92925" spcFirstLastPara="1" rIns="92925" wrap="square" tIns="46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MARGA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2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(Full System)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045803" y="3913265"/>
            <a:ext cx="1951800" cy="1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67"/>
              <a:buFont typeface="Arial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5-agent pipeline with PPO orchestrator for iterative reasoning and evidence refinement.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  <a:endParaRPr b="0" sz="3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52696" y="574767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&amp; Encoders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RoBERTa-large — text classification backbone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CLIP (ViT encoder) — image feature extraction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DPR — dense passage retrieval encoder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 — node feature initialization in propagation graph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 (Graph Attention Network) — extends Bi-GCN with temporal edge weights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FakeNewsNet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richer and more comprehensive dataset created by researchers at Arizona State University.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Twitter15 —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rumor detection dataset collected from X (formerly Twitter) and introduced by Ma et al. in 2016.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Twitter16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extension of Twitter15 with more recent rumor events.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Stack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3.10+, PyTorch, NumPy — Jupyter Notebooks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sz="3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Comparison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163995" y="1871818"/>
            <a:ext cx="85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" name="Google Shape;145;p19"/>
          <p:cNvGraphicFramePr/>
          <p:nvPr/>
        </p:nvGraphicFramePr>
        <p:xfrm>
          <a:off x="163945" y="1976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{46A528B9-0637-4E9A-B55C-DFE662EC5ABC}</a:tableStyleId>
              </a:tblPr>
              <a:tblGrid>
                <a:gridCol w="2184725"/>
                <a:gridCol w="2184725"/>
                <a:gridCol w="2184725"/>
                <a:gridCol w="21847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F1-Score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1 (Baseline)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0.8774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0.8674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 ms  ← fastest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2 (RAG)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0.8302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0.8202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116 ms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3 (Graph-RAG)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0.8349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0.8278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 ms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4 (MARGA)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0.8845  ← best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CC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0.8721  ← best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 ms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9"/>
          <p:cNvSpPr/>
          <p:nvPr/>
        </p:nvSpPr>
        <p:spPr>
          <a:xfrm>
            <a:off x="163995" y="4230970"/>
            <a:ext cx="85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63995" y="4551010"/>
            <a:ext cx="841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Font typeface="Times New Roman"/>
              <a:buChar char="•"/>
            </a:pPr>
            <a:r>
              <a:rPr lang="en-US" sz="2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information improved performance compared with RAG alone.</a:t>
            </a:r>
            <a:endParaRPr sz="205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Font typeface="Times New Roman"/>
              <a:buChar char="•"/>
            </a:pPr>
            <a:r>
              <a:rPr lang="en-US" sz="2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alone performed worse than the baseline.</a:t>
            </a:r>
            <a:endParaRPr sz="205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Font typeface="Times New Roman"/>
              <a:buChar char="•"/>
            </a:pPr>
            <a:r>
              <a:rPr lang="en-US" sz="2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MARGA achieved the best results, with 88.45% accuracy and 87.21% F1 score.</a:t>
            </a:r>
            <a:endParaRPr sz="205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Font typeface="Times New Roman"/>
              <a:buChar char="•"/>
            </a:pPr>
            <a:r>
              <a:rPr lang="en-US" sz="2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models were fast enough for real-time use.</a:t>
            </a:r>
            <a:endParaRPr sz="205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Font typeface="Times New Roman"/>
              <a:buChar char="•"/>
            </a:pPr>
            <a:r>
              <a:rPr lang="en-US" sz="2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on unseen data provides the most reliable evaluation.</a:t>
            </a:r>
            <a:endParaRPr sz="205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b="0" sz="30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Retrieval, graph propagation, multi-agent coordination, and explainability each improve the system.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MARGA achieved the best performance with 88.45% accuracy while also providing understandable explanations for its predictions.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analysis showed that some benchmark datasets may produce overly optimistic results because of built-in biases.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PPO orchestrator is computationally expensive and difficult to train stably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FAISS retrieval index (4.2M docs) may not be compatible with all real-time deployment scenarios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misinformation is not yet addressed — only text and image modalities are supported</a:t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sz="54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